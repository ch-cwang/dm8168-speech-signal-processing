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92" r:id="rId18"/>
    <p:sldId id="293" r:id="rId19"/>
    <p:sldId id="294" r:id="rId20"/>
    <p:sldId id="274" r:id="rId21"/>
    <p:sldId id="270" r:id="rId22"/>
    <p:sldId id="271" r:id="rId23"/>
    <p:sldId id="275" r:id="rId24"/>
    <p:sldId id="272" r:id="rId25"/>
    <p:sldId id="276" r:id="rId26"/>
    <p:sldId id="279" r:id="rId27"/>
    <p:sldId id="280" r:id="rId28"/>
    <p:sldId id="281" r:id="rId29"/>
    <p:sldId id="284" r:id="rId30"/>
    <p:sldId id="282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组综设</a:t>
            </a:r>
            <a:r>
              <a:rPr lang="zh-CN" altLang="en-US"/>
              <a:t>汇报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组长</a:t>
            </a:r>
            <a:r>
              <a:rPr lang="en-US" altLang="zh-CN"/>
              <a:t>:</a:t>
            </a:r>
            <a:r>
              <a:rPr lang="zh-CN" altLang="en-US"/>
              <a:t>陈旺</a:t>
            </a:r>
            <a:r>
              <a:rPr lang="en-US" altLang="zh-CN"/>
              <a:t> </a:t>
            </a:r>
            <a:r>
              <a:rPr lang="zh-CN" altLang="en-US"/>
              <a:t>组员</a:t>
            </a:r>
            <a:r>
              <a:rPr lang="en-US" altLang="zh-CN"/>
              <a:t>:</a:t>
            </a:r>
            <a:r>
              <a:rPr lang="zh-CN" altLang="en-US"/>
              <a:t>刘福鑫</a:t>
            </a:r>
            <a:r>
              <a:rPr lang="en-US" altLang="zh-CN"/>
              <a:t>,</a:t>
            </a:r>
            <a:r>
              <a:rPr lang="zh-CN" altLang="en-US"/>
              <a:t>谢昊洋</a:t>
            </a:r>
            <a:r>
              <a:rPr lang="en-US" altLang="zh-CN"/>
              <a:t>,</a:t>
            </a:r>
            <a:r>
              <a:rPr lang="zh-CN" altLang="en-US"/>
              <a:t>林愉翔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最终代码</a:t>
            </a:r>
            <a:r>
              <a:rPr lang="zh-CN" altLang="en-US"/>
              <a:t>设计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测试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第一阶段</a:t>
            </a:r>
            <a:r>
              <a:rPr lang="en-US" altLang="zh-CN"/>
              <a:t>:</a:t>
            </a:r>
            <a:r>
              <a:rPr lang="zh-CN" altLang="en-US"/>
              <a:t>环境</a:t>
            </a:r>
            <a:r>
              <a:rPr lang="zh-CN" altLang="en-US"/>
              <a:t>搭建</a:t>
            </a:r>
            <a:endParaRPr lang="zh-CN" altLang="en-US"/>
          </a:p>
        </p:txBody>
      </p:sp>
      <p:pic>
        <p:nvPicPr>
          <p:cNvPr id="44229725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485" y="1914525"/>
            <a:ext cx="6056630" cy="41738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5200" y="2985135"/>
            <a:ext cx="4064000" cy="1336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成功配置</a:t>
            </a:r>
            <a:r>
              <a:rPr lang="zh-CN" altLang="en-US"/>
              <a:t>局域网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成功在目标板</a:t>
            </a:r>
            <a:r>
              <a:rPr lang="zh-CN" altLang="en-US"/>
              <a:t>上启动</a:t>
            </a:r>
            <a:r>
              <a:rPr lang="en-US" altLang="zh-CN"/>
              <a:t>Linux</a:t>
            </a:r>
            <a:r>
              <a:rPr lang="zh-CN" altLang="en-US"/>
              <a:t>内核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成功启动</a:t>
            </a:r>
            <a:r>
              <a:rPr lang="en-US" altLang="zh-CN"/>
              <a:t>NFS</a:t>
            </a:r>
            <a:r>
              <a:rPr lang="zh-CN" altLang="en-US"/>
              <a:t>服务使</a:t>
            </a:r>
            <a:r>
              <a:rPr lang="zh-CN" altLang="en-US"/>
              <a:t>目标板获取虚拟机文件</a:t>
            </a:r>
            <a:r>
              <a:rPr lang="zh-CN" altLang="en-US"/>
              <a:t>系统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第二阶段</a:t>
            </a:r>
            <a:r>
              <a:rPr lang="en-US" altLang="zh-CN"/>
              <a:t>:helloworld.c</a:t>
            </a:r>
            <a:r>
              <a:rPr lang="zh-CN" altLang="en-US"/>
              <a:t>交叉编译以及在目标板上</a:t>
            </a:r>
            <a:r>
              <a:rPr lang="zh-CN" altLang="en-US"/>
              <a:t>运行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6415" y="3630295"/>
            <a:ext cx="6129020" cy="742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2830" y="33432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成功在虚拟机编译</a:t>
            </a:r>
            <a:r>
              <a:rPr lang="en-US" altLang="zh-CN"/>
              <a:t>ARM</a:t>
            </a:r>
            <a:r>
              <a:rPr lang="zh-CN" altLang="en-US"/>
              <a:t>核</a:t>
            </a:r>
            <a:r>
              <a:rPr lang="zh-CN" altLang="en-US"/>
              <a:t>程序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成功将在虚拟机上编译的程序放到目标板</a:t>
            </a:r>
            <a:r>
              <a:rPr lang="zh-CN" altLang="en-US"/>
              <a:t>上运行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第三阶段</a:t>
            </a:r>
            <a:r>
              <a:rPr lang="en-US" altLang="zh-CN"/>
              <a:t>:syslink</a:t>
            </a:r>
            <a:r>
              <a:rPr lang="zh-CN" altLang="en-US"/>
              <a:t>例程的修改</a:t>
            </a:r>
            <a:r>
              <a:rPr lang="en-US" altLang="zh-CN"/>
              <a:t>,</a:t>
            </a:r>
            <a:r>
              <a:rPr lang="zh-CN" altLang="en-US"/>
              <a:t>编译及</a:t>
            </a:r>
            <a:r>
              <a:rPr lang="zh-CN" altLang="en-US"/>
              <a:t>运行</a:t>
            </a:r>
            <a:endParaRPr lang="zh-CN" altLang="en-US"/>
          </a:p>
        </p:txBody>
      </p:sp>
      <p:pic>
        <p:nvPicPr>
          <p:cNvPr id="1793132754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45" y="2884805"/>
            <a:ext cx="5274310" cy="3634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57300" y="2441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改为开根号运算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503795" y="2397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改为文件读取数据并进行大写</a:t>
            </a:r>
            <a:r>
              <a:rPr lang="zh-CN" altLang="en-US"/>
              <a:t>转化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阶段四</a:t>
            </a:r>
            <a:r>
              <a:rPr lang="en-US" altLang="zh-CN"/>
              <a:t>:GDB</a:t>
            </a:r>
            <a:r>
              <a:rPr lang="zh-CN" altLang="en-US"/>
              <a:t>调试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07996905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30" y="2795905"/>
            <a:ext cx="5274310" cy="3489960"/>
          </a:xfrm>
          <a:prstGeom prst="rect">
            <a:avLst/>
          </a:prstGeom>
        </p:spPr>
      </p:pic>
      <p:pic>
        <p:nvPicPr>
          <p:cNvPr id="524170940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95" y="2651125"/>
            <a:ext cx="5274310" cy="3634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52830" y="2346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虚拟机</a:t>
            </a:r>
            <a:r>
              <a:rPr lang="en-US" altLang="zh-CN"/>
              <a:t>:</a:t>
            </a:r>
            <a:r>
              <a:rPr lang="zh-CN" altLang="en-US"/>
              <a:t>输入</a:t>
            </a:r>
            <a:r>
              <a:rPr lang="en-US" altLang="zh-CN"/>
              <a:t>l,</a:t>
            </a:r>
            <a:r>
              <a:rPr lang="zh-CN" altLang="en-US"/>
              <a:t>输出全部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98895" y="2221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开发板</a:t>
            </a:r>
            <a:r>
              <a:rPr lang="en-US" altLang="zh-CN"/>
              <a:t>: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第五阶段</a:t>
            </a:r>
            <a:r>
              <a:rPr lang="en-US" altLang="zh-CN"/>
              <a:t>:</a:t>
            </a:r>
            <a:r>
              <a:rPr lang="zh-CN" altLang="en-US"/>
              <a:t>最终代码</a:t>
            </a:r>
            <a:r>
              <a:rPr lang="zh-CN" altLang="en-US"/>
              <a:t>实现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/>
              <a:t>现场</a:t>
            </a:r>
            <a:r>
              <a:rPr lang="zh-CN" altLang="en-US"/>
              <a:t>展示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最终代码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原理</a:t>
            </a:r>
            <a:r>
              <a:rPr lang="zh-CN" altLang="en-US"/>
              <a:t>解析</a:t>
            </a:r>
            <a:endParaRPr lang="zh-CN" altLang="en-US"/>
          </a:p>
          <a:p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zh-CN" altLang="en-US"/>
              <a:t>声卡参数</a:t>
            </a:r>
            <a:r>
              <a:rPr lang="zh-CN" altLang="en-US"/>
              <a:t>选择</a:t>
            </a:r>
            <a:endParaRPr lang="zh-CN" altLang="en-US"/>
          </a:p>
          <a:p>
            <a:r>
              <a:rPr lang="zh-CN" altLang="en-US"/>
              <a:t>三</a:t>
            </a:r>
            <a:r>
              <a:rPr lang="en-US" altLang="zh-CN"/>
              <a:t>.</a:t>
            </a:r>
            <a:r>
              <a:rPr lang="zh-CN" altLang="en-US"/>
              <a:t>架构</a:t>
            </a:r>
            <a:r>
              <a:rPr lang="zh-CN" altLang="en-US"/>
              <a:t>设计</a:t>
            </a:r>
            <a:endParaRPr lang="zh-CN" altLang="en-US"/>
          </a:p>
          <a:p>
            <a:r>
              <a:rPr lang="zh-CN" altLang="en-US"/>
              <a:t>四</a:t>
            </a:r>
            <a:r>
              <a:rPr lang="en-US" altLang="zh-CN"/>
              <a:t>.</a:t>
            </a:r>
            <a:r>
              <a:rPr lang="zh-CN" altLang="en-US"/>
              <a:t>后续</a:t>
            </a:r>
            <a:r>
              <a:rPr lang="zh-CN" altLang="en-US"/>
              <a:t>优化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原理解析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68805"/>
            <a:ext cx="4749800" cy="2635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80150" y="1959610"/>
            <a:ext cx="4064000" cy="293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ARM</a:t>
            </a:r>
            <a:r>
              <a:rPr lang="zh-CN" altLang="en-US"/>
              <a:t>核</a:t>
            </a:r>
            <a:r>
              <a:rPr lang="en-US" altLang="zh-CN"/>
              <a:t>:Linux</a:t>
            </a:r>
            <a:r>
              <a:rPr lang="zh-CN" altLang="en-US"/>
              <a:t>系统</a:t>
            </a:r>
            <a:r>
              <a:rPr lang="en-US" altLang="zh-CN"/>
              <a:t>,</a:t>
            </a:r>
            <a:r>
              <a:rPr lang="zh-CN" altLang="en-US"/>
              <a:t>具有完备的接口</a:t>
            </a:r>
            <a:r>
              <a:rPr lang="zh-CN" altLang="en-US"/>
              <a:t>程序</a:t>
            </a:r>
            <a:endParaRPr lang="zh-CN" altLang="en-US"/>
          </a:p>
          <a:p>
            <a:r>
              <a:rPr lang="zh-CN" altLang="en-US"/>
              <a:t>如</a:t>
            </a:r>
            <a:r>
              <a:rPr lang="en-US" altLang="zh-CN"/>
              <a:t>:alsa:</a:t>
            </a:r>
            <a:r>
              <a:rPr lang="zh-CN" altLang="en-US"/>
              <a:t>声卡</a:t>
            </a:r>
            <a:r>
              <a:rPr lang="zh-CN" altLang="en-US"/>
              <a:t>操作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DSP</a:t>
            </a:r>
            <a:r>
              <a:rPr lang="zh-CN" altLang="en-US"/>
              <a:t>核</a:t>
            </a:r>
            <a:r>
              <a:rPr lang="en-US" altLang="zh-CN"/>
              <a:t>:SYS/BIOS</a:t>
            </a:r>
            <a:r>
              <a:rPr lang="zh-CN" altLang="en-US"/>
              <a:t>系统</a:t>
            </a:r>
            <a:r>
              <a:rPr lang="en-US" altLang="zh-CN"/>
              <a:t>:</a:t>
            </a:r>
            <a:r>
              <a:rPr lang="zh-CN" altLang="en-US"/>
              <a:t>实时系统</a:t>
            </a:r>
            <a:r>
              <a:rPr lang="en-US" altLang="zh-CN"/>
              <a:t>,</a:t>
            </a:r>
            <a:r>
              <a:rPr lang="zh-CN" altLang="en-US"/>
              <a:t>加速</a:t>
            </a:r>
            <a:r>
              <a:rPr lang="zh-CN" altLang="en-US"/>
              <a:t>处理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syslink:</a:t>
            </a:r>
            <a:r>
              <a:rPr lang="zh-CN" altLang="en-US"/>
              <a:t>中间件</a:t>
            </a:r>
            <a:r>
              <a:rPr lang="en-US" altLang="zh-CN"/>
              <a:t>,</a:t>
            </a:r>
            <a:r>
              <a:rPr lang="zh-CN" altLang="en-US"/>
              <a:t>负责核间</a:t>
            </a:r>
            <a:r>
              <a:rPr lang="zh-CN" altLang="en-US"/>
              <a:t>通信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现阶段不对数据进行处理</a:t>
            </a:r>
            <a:r>
              <a:rPr lang="en-US" altLang="zh-CN"/>
              <a:t>,</a:t>
            </a:r>
            <a:r>
              <a:rPr lang="zh-CN" altLang="en-US"/>
              <a:t>仅送到</a:t>
            </a:r>
            <a:r>
              <a:rPr lang="en-US" altLang="zh-CN"/>
              <a:t>DSP</a:t>
            </a:r>
            <a:r>
              <a:rPr lang="zh-CN" altLang="en-US"/>
              <a:t>核后</a:t>
            </a:r>
            <a:r>
              <a:rPr lang="zh-CN" altLang="en-US"/>
              <a:t>送回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声卡参数选择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采样率</a:t>
            </a:r>
            <a:r>
              <a:rPr lang="en-US" altLang="zh-CN"/>
              <a:t>:48kHZ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采样周期</a:t>
            </a:r>
            <a:r>
              <a:rPr lang="en-US" altLang="zh-CN"/>
              <a:t>:960</a:t>
            </a:r>
            <a:r>
              <a:rPr lang="zh-CN" altLang="en-US"/>
              <a:t>帧</a:t>
            </a:r>
            <a:r>
              <a:rPr lang="zh-CN" altLang="en-US"/>
              <a:t>每周期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双声道</a:t>
            </a:r>
            <a:r>
              <a:rPr lang="en-US" altLang="zh-CN"/>
              <a:t>,</a:t>
            </a:r>
            <a:r>
              <a:rPr lang="zh-CN" altLang="en-US"/>
              <a:t>16位有符号小端序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每周期数据</a:t>
            </a:r>
            <a:r>
              <a:rPr lang="en-US" altLang="zh-CN"/>
              <a:t> = 20ms</a:t>
            </a:r>
            <a:r>
              <a:rPr lang="zh-CN" altLang="en-US"/>
              <a:t>数据</a:t>
            </a:r>
            <a:r>
              <a:rPr lang="en-US" altLang="zh-CN"/>
              <a:t> = 2 * 16 * 960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架构设计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基于</a:t>
            </a:r>
            <a:r>
              <a:rPr lang="en-US" altLang="zh-CN"/>
              <a:t>ex04_sharedregion</a:t>
            </a:r>
            <a:r>
              <a:rPr lang="zh-CN" altLang="en-US"/>
              <a:t>例程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ARM</a:t>
            </a:r>
            <a:r>
              <a:rPr lang="zh-CN" altLang="en-US"/>
              <a:t>核</a:t>
            </a:r>
            <a:r>
              <a:rPr lang="en-US" altLang="zh-CN"/>
              <a:t>:</a:t>
            </a:r>
            <a:r>
              <a:rPr lang="zh-CN" altLang="en-US"/>
              <a:t>双线程</a:t>
            </a:r>
            <a:endParaRPr lang="zh-CN" altLang="en-US"/>
          </a:p>
          <a:p>
            <a:r>
              <a:rPr lang="zh-CN" altLang="en-US"/>
              <a:t>录音线程</a:t>
            </a:r>
            <a:r>
              <a:rPr lang="en-US" altLang="zh-CN"/>
              <a:t>:</a:t>
            </a:r>
            <a:r>
              <a:rPr lang="zh-CN" altLang="en-US"/>
              <a:t>从声卡接</a:t>
            </a:r>
            <a:r>
              <a:rPr lang="zh-CN" altLang="en-US"/>
              <a:t>收数据并放入</a:t>
            </a:r>
            <a:r>
              <a:rPr lang="zh-CN" altLang="en-US"/>
              <a:t>缓冲区</a:t>
            </a:r>
            <a:endParaRPr lang="zh-CN" altLang="en-US"/>
          </a:p>
          <a:p>
            <a:r>
              <a:rPr lang="zh-CN" altLang="en-US"/>
              <a:t>播放线程</a:t>
            </a:r>
            <a:r>
              <a:rPr lang="en-US" altLang="zh-CN"/>
              <a:t>:</a:t>
            </a:r>
            <a:r>
              <a:rPr lang="zh-CN" altLang="en-US"/>
              <a:t>从缓冲区中接收处理好的数据并送至</a:t>
            </a:r>
            <a:r>
              <a:rPr lang="zh-CN" altLang="en-US"/>
              <a:t>声卡</a:t>
            </a:r>
            <a:endParaRPr lang="zh-CN" altLang="en-US"/>
          </a:p>
          <a:p>
            <a:r>
              <a:rPr lang="zh-CN" altLang="en-US"/>
              <a:t>主函数</a:t>
            </a:r>
            <a:r>
              <a:rPr lang="zh-CN" altLang="en-US"/>
              <a:t>阻塞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DSP</a:t>
            </a:r>
            <a:r>
              <a:rPr lang="zh-CN" altLang="en-US"/>
              <a:t>核</a:t>
            </a:r>
            <a:r>
              <a:rPr lang="en-US" altLang="zh-CN"/>
              <a:t>:</a:t>
            </a:r>
            <a:r>
              <a:rPr lang="zh-CN" altLang="en-US"/>
              <a:t>从缓冲区取数据处理好后放回</a:t>
            </a:r>
            <a:r>
              <a:rPr lang="zh-CN" altLang="en-US"/>
              <a:t>缓冲区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架构设计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本质</a:t>
            </a:r>
            <a:r>
              <a:rPr lang="en-US" altLang="zh-CN"/>
              <a:t>:</a:t>
            </a:r>
            <a:r>
              <a:rPr lang="zh-CN" altLang="en-US"/>
              <a:t>生产者消费者</a:t>
            </a:r>
            <a:r>
              <a:rPr lang="zh-CN" altLang="en-US"/>
              <a:t>问题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缓冲区</a:t>
            </a:r>
            <a:r>
              <a:rPr lang="zh-CN" altLang="en-US"/>
              <a:t>选择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同步机制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缓冲区</a:t>
            </a:r>
            <a:r>
              <a:rPr lang="zh-CN" altLang="en-US"/>
              <a:t>选择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双缓冲区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录音线程</a:t>
            </a:r>
            <a:r>
              <a:rPr lang="en-US" altLang="zh-CN"/>
              <a:t>-&gt;DSP</a:t>
            </a:r>
            <a:r>
              <a:rPr lang="zh-CN" altLang="en-US"/>
              <a:t>核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DSP</a:t>
            </a:r>
            <a:r>
              <a:rPr lang="zh-CN" altLang="en-US"/>
              <a:t>核</a:t>
            </a:r>
            <a:r>
              <a:rPr lang="en-US" altLang="zh-CN"/>
              <a:t>-&gt;</a:t>
            </a:r>
            <a:r>
              <a:rPr lang="zh-CN" altLang="en-US"/>
              <a:t>播放</a:t>
            </a:r>
            <a:r>
              <a:rPr lang="zh-CN" altLang="en-US"/>
              <a:t>线程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ex04</a:t>
            </a:r>
            <a:r>
              <a:rPr lang="zh-CN" altLang="en-US"/>
              <a:t>例程自带的</a:t>
            </a:r>
            <a:r>
              <a:rPr lang="en-US" altLang="zh-CN"/>
              <a:t>sharedregion:</a:t>
            </a:r>
            <a:r>
              <a:rPr lang="zh-CN" altLang="en-US"/>
              <a:t>共享</a:t>
            </a:r>
            <a:r>
              <a:rPr lang="zh-CN" altLang="en-US"/>
              <a:t>内存</a:t>
            </a:r>
            <a:endParaRPr lang="zh-CN" altLang="en-US"/>
          </a:p>
          <a:p>
            <a:r>
              <a:rPr lang="zh-CN" altLang="en-US"/>
              <a:t>空分复用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前半部分</a:t>
            </a:r>
            <a:r>
              <a:rPr lang="en-US" altLang="zh-CN"/>
              <a:t>:</a:t>
            </a:r>
            <a:r>
              <a:rPr lang="zh-CN" altLang="en-US"/>
              <a:t>用于录音线程与</a:t>
            </a:r>
            <a:r>
              <a:rPr lang="en-US" altLang="zh-CN"/>
              <a:t>DSP</a:t>
            </a:r>
            <a:r>
              <a:rPr lang="zh-CN" altLang="en-US"/>
              <a:t>核之间的信息传递</a:t>
            </a:r>
            <a:r>
              <a:rPr lang="en-US" altLang="zh-CN"/>
              <a:t>,</a:t>
            </a:r>
            <a:r>
              <a:rPr lang="zh-CN" altLang="en-US"/>
              <a:t>最多容纳</a:t>
            </a:r>
            <a:r>
              <a:rPr lang="en-US" altLang="zh-CN"/>
              <a:t>20</a:t>
            </a:r>
            <a:r>
              <a:rPr lang="zh-CN" altLang="en-US"/>
              <a:t>个周</a:t>
            </a:r>
            <a:endParaRPr lang="zh-CN" altLang="en-US"/>
          </a:p>
          <a:p>
            <a:r>
              <a:rPr lang="zh-CN" altLang="en-US"/>
              <a:t>期的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zh-CN" altLang="en-US"/>
              <a:t>后半部分</a:t>
            </a:r>
            <a:r>
              <a:rPr lang="en-US" altLang="zh-CN"/>
              <a:t>:</a:t>
            </a:r>
            <a:r>
              <a:rPr lang="zh-CN" altLang="en-US"/>
              <a:t>用于</a:t>
            </a:r>
            <a:r>
              <a:rPr lang="en-US" altLang="zh-CN"/>
              <a:t>DSP</a:t>
            </a:r>
            <a:r>
              <a:rPr lang="zh-CN" altLang="en-US"/>
              <a:t>核与播放线程之间的信息传递</a:t>
            </a:r>
            <a:r>
              <a:rPr lang="en-US" altLang="zh-CN"/>
              <a:t>,</a:t>
            </a:r>
            <a:r>
              <a:rPr lang="zh-CN" altLang="en-US">
                <a:sym typeface="+mn-ea"/>
              </a:rPr>
              <a:t>最多容纳</a:t>
            </a: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个周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期的数据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同步机制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信号量</a:t>
            </a:r>
            <a:r>
              <a:rPr lang="zh-CN" altLang="en-US"/>
              <a:t>同步</a:t>
            </a:r>
            <a:endParaRPr lang="zh-CN" altLang="en-US"/>
          </a:p>
          <a:p>
            <a:r>
              <a:rPr lang="zh-CN" altLang="en-US"/>
              <a:t>四个信号量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录音线程与</a:t>
            </a:r>
            <a:r>
              <a:rPr lang="en-US" altLang="zh-CN"/>
              <a:t>DSP</a:t>
            </a:r>
            <a:r>
              <a:rPr lang="zh-CN" altLang="en-US"/>
              <a:t>核间</a:t>
            </a:r>
            <a:r>
              <a:rPr lang="en-US" altLang="zh-CN"/>
              <a:t>:empty_in,full_in</a:t>
            </a:r>
            <a:endParaRPr lang="en-US" altLang="zh-CN"/>
          </a:p>
          <a:p>
            <a:r>
              <a:rPr lang="en-US" altLang="zh-CN"/>
              <a:t>DSP</a:t>
            </a:r>
            <a:r>
              <a:rPr lang="zh-CN" altLang="en-US"/>
              <a:t>核与播放线程间</a:t>
            </a:r>
            <a:r>
              <a:rPr lang="en-US" altLang="zh-CN"/>
              <a:t>:empty_out,full_out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跨核同步问题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app.c</a:t>
            </a:r>
            <a:r>
              <a:rPr lang="zh-CN" altLang="en-US"/>
              <a:t>和</a:t>
            </a:r>
            <a:r>
              <a:rPr lang="en-US" altLang="zh-CN"/>
              <a:t>server.c</a:t>
            </a:r>
            <a:r>
              <a:rPr lang="zh-CN" altLang="en-US"/>
              <a:t>仅声明需要申请的</a:t>
            </a:r>
            <a:r>
              <a:rPr lang="zh-CN" altLang="en-US"/>
              <a:t>信号量</a:t>
            </a:r>
            <a:endParaRPr lang="zh-CN" altLang="en-US"/>
          </a:p>
          <a:p>
            <a:r>
              <a:rPr lang="zh-CN" altLang="en-US"/>
              <a:t>利用</a:t>
            </a:r>
            <a:r>
              <a:rPr lang="en-US" altLang="zh-CN"/>
              <a:t>ex04</a:t>
            </a:r>
            <a:r>
              <a:rPr lang="zh-CN" altLang="en-US"/>
              <a:t>例程自带的消息队列</a:t>
            </a:r>
            <a:r>
              <a:rPr lang="en-US" altLang="zh-CN"/>
              <a:t>,</a:t>
            </a:r>
            <a:r>
              <a:rPr lang="zh-CN" altLang="en-US"/>
              <a:t>通过互相发送消息在各自的回调函数中进行资源</a:t>
            </a:r>
            <a:r>
              <a:rPr lang="zh-CN" altLang="en-US"/>
              <a:t>释放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程序退出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ctrl+c</a:t>
            </a:r>
            <a:r>
              <a:rPr lang="zh-CN" altLang="en-US"/>
              <a:t>退出</a:t>
            </a:r>
            <a:r>
              <a:rPr lang="en-US" altLang="zh-CN"/>
              <a:t>:</a:t>
            </a:r>
            <a:r>
              <a:rPr lang="zh-CN" altLang="en-US"/>
              <a:t>未进行资源释放强制</a:t>
            </a:r>
            <a:r>
              <a:rPr lang="zh-CN" altLang="en-US"/>
              <a:t>退出</a:t>
            </a:r>
            <a:endParaRPr lang="zh-CN" altLang="en-US"/>
          </a:p>
          <a:p>
            <a:r>
              <a:rPr lang="zh-CN" altLang="en-US"/>
              <a:t>导致</a:t>
            </a:r>
            <a:r>
              <a:rPr lang="en-US" altLang="zh-CN"/>
              <a:t>:</a:t>
            </a:r>
            <a:r>
              <a:rPr lang="zh-CN" altLang="en-US"/>
              <a:t>退出后的第一次</a:t>
            </a:r>
            <a:r>
              <a:rPr lang="en-US" altLang="zh-CN"/>
              <a:t>arecord |aplay</a:t>
            </a:r>
            <a:r>
              <a:rPr lang="zh-CN" altLang="en-US"/>
              <a:t>命令</a:t>
            </a:r>
            <a:r>
              <a:rPr lang="zh-CN" altLang="en-US"/>
              <a:t>无输出</a:t>
            </a:r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将</a:t>
            </a:r>
            <a:r>
              <a:rPr lang="en-US" altLang="zh-CN"/>
              <a:t>ctrl+c</a:t>
            </a:r>
            <a:r>
              <a:rPr lang="zh-CN" altLang="en-US"/>
              <a:t>设为标准退出</a:t>
            </a:r>
            <a:r>
              <a:rPr lang="zh-CN" altLang="en-US"/>
              <a:t>方式</a:t>
            </a:r>
            <a:endParaRPr lang="zh-CN" altLang="en-US"/>
          </a:p>
          <a:p>
            <a:r>
              <a:rPr lang="zh-CN" altLang="en-US"/>
              <a:t>引入</a:t>
            </a:r>
            <a:r>
              <a:rPr lang="en-US" altLang="zh-CN"/>
              <a:t>sigaction</a:t>
            </a:r>
            <a:r>
              <a:rPr lang="zh-CN" altLang="en-US"/>
              <a:t>信号捕获机制</a:t>
            </a:r>
            <a:r>
              <a:rPr lang="en-US" altLang="zh-CN"/>
              <a:t>,</a:t>
            </a:r>
            <a:r>
              <a:rPr lang="zh-CN" altLang="en-US"/>
              <a:t>捕获</a:t>
            </a:r>
            <a:r>
              <a:rPr lang="en-US" altLang="zh-CN"/>
              <a:t>ctrl+c</a:t>
            </a:r>
            <a:r>
              <a:rPr lang="zh-CN" altLang="en-US"/>
              <a:t>信号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</a:t>
            </a:r>
            <a:r>
              <a:rPr lang="en-US" altLang="zh-CN"/>
              <a:t>:ctrl+c</a:t>
            </a:r>
            <a:r>
              <a:rPr lang="zh-CN" altLang="en-US"/>
              <a:t>终结守护进程</a:t>
            </a:r>
            <a:r>
              <a:rPr lang="en-US" altLang="zh-CN"/>
              <a:t>,</a:t>
            </a:r>
            <a:r>
              <a:rPr lang="zh-CN" altLang="en-US"/>
              <a:t>无法正常</a:t>
            </a:r>
            <a:r>
              <a:rPr lang="zh-CN" altLang="en-US"/>
              <a:t>退出</a:t>
            </a:r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放弃</a:t>
            </a:r>
            <a:r>
              <a:rPr lang="en-US" altLang="zh-CN"/>
              <a:t>ctrl+c</a:t>
            </a:r>
            <a:r>
              <a:rPr lang="zh-CN" altLang="en-US"/>
              <a:t>退出</a:t>
            </a:r>
            <a:r>
              <a:rPr lang="en-US" altLang="zh-CN"/>
              <a:t>,</a:t>
            </a:r>
            <a:r>
              <a:rPr lang="zh-CN" altLang="en-US"/>
              <a:t>改为</a:t>
            </a:r>
            <a:r>
              <a:rPr lang="en-US" altLang="zh-CN"/>
              <a:t>enter</a:t>
            </a:r>
            <a:r>
              <a:rPr lang="zh-CN" altLang="en-US"/>
              <a:t>退出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后续优化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2625" y="1499235"/>
            <a:ext cx="10515600" cy="5061585"/>
          </a:xfrm>
        </p:spPr>
        <p:txBody>
          <a:bodyPr>
            <a:normAutofit fontScale="90000" lnSpcReduction="20000"/>
          </a:bodyPr>
          <a:p>
            <a:r>
              <a:rPr lang="zh-CN" altLang="en-US"/>
              <a:t>问题</a:t>
            </a:r>
            <a:r>
              <a:rPr lang="en-US" altLang="zh-CN"/>
              <a:t>:</a:t>
            </a:r>
            <a:r>
              <a:rPr lang="zh-CN" altLang="en-US"/>
              <a:t>消息发送失败导致的死锁问题以及数据错位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重试机制</a:t>
            </a:r>
            <a:r>
              <a:rPr lang="en-US" altLang="zh-CN"/>
              <a:t>:</a:t>
            </a:r>
            <a:r>
              <a:rPr lang="zh-CN" altLang="en-US"/>
              <a:t>消息发送后进行返回值确认</a:t>
            </a:r>
            <a:r>
              <a:rPr lang="en-US" altLang="zh-CN"/>
              <a:t>,</a:t>
            </a:r>
            <a:r>
              <a:rPr lang="zh-CN" altLang="en-US"/>
              <a:t>若发送失败则短暂阻塞后重新</a:t>
            </a:r>
            <a:r>
              <a:rPr lang="zh-CN" altLang="en-US"/>
              <a:t>发</a:t>
            </a:r>
            <a:endParaRPr lang="zh-CN" altLang="en-US"/>
          </a:p>
          <a:p>
            <a:r>
              <a:rPr lang="zh-CN" altLang="en-US"/>
              <a:t>送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索引队列机制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放弃自增型索引</a:t>
            </a:r>
            <a:endParaRPr lang="en-US" altLang="zh-CN"/>
          </a:p>
          <a:p>
            <a:r>
              <a:rPr lang="zh-CN" altLang="en-US"/>
              <a:t>改变消息格式</a:t>
            </a:r>
            <a:r>
              <a:rPr lang="en-US" altLang="zh-CN"/>
              <a:t>:</a:t>
            </a:r>
            <a:r>
              <a:rPr lang="zh-CN" altLang="en-US"/>
              <a:t>前</a:t>
            </a:r>
            <a:r>
              <a:rPr lang="en-US" altLang="zh-CN"/>
              <a:t>16</a:t>
            </a:r>
            <a:r>
              <a:rPr lang="zh-CN" altLang="en-US"/>
              <a:t>位消息</a:t>
            </a:r>
            <a:r>
              <a:rPr lang="en-US" altLang="zh-CN"/>
              <a:t>,</a:t>
            </a:r>
            <a:r>
              <a:rPr lang="zh-CN" altLang="en-US"/>
              <a:t>后</a:t>
            </a:r>
            <a:r>
              <a:rPr lang="en-US" altLang="zh-CN"/>
              <a:t>16</a:t>
            </a:r>
            <a:r>
              <a:rPr lang="zh-CN" altLang="en-US"/>
              <a:t>位处理的索引</a:t>
            </a:r>
            <a:r>
              <a:rPr lang="zh-CN" altLang="en-US"/>
              <a:t>号</a:t>
            </a:r>
            <a:endParaRPr lang="zh-CN" altLang="en-US"/>
          </a:p>
          <a:p>
            <a:r>
              <a:rPr lang="zh-CN" altLang="en-US"/>
              <a:t>索引队列记录收到消息中的</a:t>
            </a:r>
            <a:r>
              <a:rPr lang="zh-CN" altLang="en-US"/>
              <a:t>索引号</a:t>
            </a:r>
            <a:endParaRPr lang="zh-CN" altLang="en-US"/>
          </a:p>
          <a:p>
            <a:r>
              <a:rPr lang="zh-CN" altLang="en-US"/>
              <a:t>每次进行数据操作从索引队列中提取</a:t>
            </a:r>
            <a:r>
              <a:rPr lang="zh-CN" altLang="en-US"/>
              <a:t>索引号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后续</a:t>
            </a:r>
            <a:r>
              <a:rPr lang="en-US" altLang="zh-CN"/>
              <a:t>:</a:t>
            </a:r>
            <a:r>
              <a:rPr lang="zh-CN" altLang="en-US"/>
              <a:t>引入基于索引队列的信号量恢复</a:t>
            </a:r>
            <a:r>
              <a:rPr lang="zh-CN" altLang="en-US"/>
              <a:t>机制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后续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en-US" altLang="zh-CN"/>
              <a:t>:</a:t>
            </a:r>
            <a:r>
              <a:rPr lang="zh-CN" altLang="en-US"/>
              <a:t>程序开始时因调度引发的欠载爆音</a:t>
            </a:r>
            <a:r>
              <a:rPr lang="zh-CN" altLang="en-US"/>
              <a:t>问题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引入预充水机制</a:t>
            </a:r>
            <a:r>
              <a:rPr lang="en-US" altLang="zh-CN"/>
              <a:t>,</a:t>
            </a:r>
            <a:r>
              <a:rPr lang="zh-CN" altLang="en-US"/>
              <a:t>通过设置声卡参数</a:t>
            </a:r>
            <a:r>
              <a:rPr lang="en-US" altLang="zh-CN"/>
              <a:t>,</a:t>
            </a:r>
            <a:r>
              <a:rPr lang="zh-CN" altLang="en-US"/>
              <a:t>让</a:t>
            </a:r>
            <a:r>
              <a:rPr lang="en-US" altLang="zh-CN"/>
              <a:t>ringbuffer</a:t>
            </a:r>
            <a:r>
              <a:rPr lang="zh-CN" altLang="en-US"/>
              <a:t>拥有三个周期的数据前不开启</a:t>
            </a:r>
            <a:r>
              <a:rPr lang="en-US" altLang="zh-CN"/>
              <a:t>DAC</a:t>
            </a:r>
            <a:r>
              <a:rPr lang="zh-CN" altLang="en-US"/>
              <a:t>硬件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4467225"/>
            <a:ext cx="6844665" cy="701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后续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en-US" altLang="zh-CN"/>
              <a:t>:</a:t>
            </a:r>
            <a:r>
              <a:rPr lang="zh-CN" altLang="en-US"/>
              <a:t>单次</a:t>
            </a:r>
            <a:r>
              <a:rPr lang="en-US" altLang="zh-CN"/>
              <a:t>readi</a:t>
            </a:r>
            <a:r>
              <a:rPr lang="zh-CN" altLang="en-US"/>
              <a:t>采集的数据不满</a:t>
            </a:r>
            <a:r>
              <a:rPr lang="en-US" altLang="zh-CN"/>
              <a:t>960</a:t>
            </a:r>
            <a:r>
              <a:rPr lang="zh-CN" altLang="en-US"/>
              <a:t>帧</a:t>
            </a:r>
            <a:r>
              <a:rPr lang="en-US" altLang="zh-CN"/>
              <a:t>(</a:t>
            </a:r>
            <a:r>
              <a:rPr lang="zh-CN" altLang="en-US"/>
              <a:t>一周期数据</a:t>
            </a:r>
            <a:r>
              <a:rPr lang="en-US" altLang="zh-CN"/>
              <a:t>)</a:t>
            </a:r>
            <a:r>
              <a:rPr lang="zh-CN" altLang="en-US"/>
              <a:t>导致的数据</a:t>
            </a:r>
            <a:r>
              <a:rPr lang="zh-CN" altLang="en-US"/>
              <a:t>断</a:t>
            </a:r>
            <a:endParaRPr lang="zh-CN" altLang="en-US"/>
          </a:p>
          <a:p>
            <a:r>
              <a:rPr lang="zh-CN" altLang="en-US"/>
              <a:t>裂</a:t>
            </a:r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引入</a:t>
            </a:r>
            <a:r>
              <a:rPr lang="en-US" altLang="zh-CN"/>
              <a:t>while</a:t>
            </a:r>
            <a:r>
              <a:rPr lang="zh-CN" altLang="en-US"/>
              <a:t>拼装</a:t>
            </a:r>
            <a:r>
              <a:rPr lang="zh-CN" altLang="en-US"/>
              <a:t>机制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rc = readi(frame) </a:t>
            </a:r>
            <a:r>
              <a:rPr lang="zh-CN" altLang="en-US"/>
              <a:t>不满</a:t>
            </a:r>
            <a:r>
              <a:rPr lang="en-US" altLang="zh-CN"/>
              <a:t>960</a:t>
            </a:r>
            <a:r>
              <a:rPr lang="zh-CN" altLang="en-US"/>
              <a:t>帧</a:t>
            </a:r>
            <a:r>
              <a:rPr lang="zh-CN" altLang="en-US"/>
              <a:t>数据时</a:t>
            </a:r>
            <a:endParaRPr lang="zh-CN" altLang="en-US"/>
          </a:p>
          <a:p>
            <a:r>
              <a:rPr lang="zh-CN" altLang="en-US"/>
              <a:t>进行</a:t>
            </a:r>
            <a:r>
              <a:rPr lang="en-US" altLang="zh-CN"/>
              <a:t>frame - rc</a:t>
            </a:r>
            <a:r>
              <a:rPr lang="zh-CN" altLang="en-US"/>
              <a:t>操作并再次进行</a:t>
            </a:r>
            <a:r>
              <a:rPr lang="en-US" altLang="zh-CN"/>
              <a:t>rc = readi(frame)</a:t>
            </a:r>
            <a:r>
              <a:rPr lang="zh-CN" altLang="en-US"/>
              <a:t>并与之前的数据进</a:t>
            </a:r>
            <a:endParaRPr lang="zh-CN" altLang="en-US"/>
          </a:p>
          <a:p>
            <a:r>
              <a:rPr lang="zh-CN" altLang="en-US"/>
              <a:t>行</a:t>
            </a:r>
            <a:r>
              <a:rPr lang="zh-CN" altLang="en-US"/>
              <a:t>拼接</a:t>
            </a:r>
            <a:endParaRPr lang="zh-CN" altLang="en-US"/>
          </a:p>
          <a:p>
            <a:r>
              <a:rPr lang="zh-CN" altLang="en-US"/>
              <a:t>直至采集完整的</a:t>
            </a:r>
            <a:r>
              <a:rPr lang="en-US" altLang="zh-CN"/>
              <a:t>960</a:t>
            </a:r>
            <a:r>
              <a:rPr lang="zh-CN" altLang="en-US"/>
              <a:t>帧数据后退出循环并发送确认</a:t>
            </a:r>
            <a:r>
              <a:rPr lang="zh-CN" altLang="en-US"/>
              <a:t>消息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app.c</a:t>
            </a:r>
            <a:r>
              <a:rPr lang="zh-CN" altLang="en-US"/>
              <a:t>流程</a:t>
            </a:r>
            <a:r>
              <a:rPr lang="en-US" altLang="zh-CN"/>
              <a:t>(</a:t>
            </a:r>
            <a:r>
              <a:rPr lang="zh-CN" altLang="en-US"/>
              <a:t>握手后</a:t>
            </a:r>
            <a:r>
              <a:rPr lang="en-US" altLang="zh-CN"/>
              <a:t>):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65495" y="898525"/>
            <a:ext cx="2762250" cy="53651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录音线程流程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11140" y="734695"/>
            <a:ext cx="3405505" cy="55143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播放线程</a:t>
            </a:r>
            <a:r>
              <a:rPr lang="zh-CN" altLang="en-US"/>
              <a:t>流程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11115" y="208280"/>
            <a:ext cx="3131185" cy="62191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app.c</a:t>
            </a:r>
            <a:r>
              <a:rPr lang="zh-CN" altLang="en-US"/>
              <a:t>回调函数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一般消息</a:t>
            </a:r>
            <a:r>
              <a:rPr lang="en-US" altLang="zh-CN"/>
              <a:t>:</a:t>
            </a:r>
            <a:r>
              <a:rPr lang="zh-CN" altLang="en-US"/>
              <a:t>直接根据消息进行</a:t>
            </a:r>
            <a:r>
              <a:rPr lang="zh-CN" altLang="en-US"/>
              <a:t>处理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包含</a:t>
            </a:r>
            <a:r>
              <a:rPr lang="zh-CN" altLang="en-US"/>
              <a:t>索引的消息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进行消息</a:t>
            </a:r>
            <a:r>
              <a:rPr lang="zh-CN" altLang="en-US"/>
              <a:t>分析</a:t>
            </a:r>
            <a:endParaRPr lang="zh-CN" altLang="en-US"/>
          </a:p>
          <a:p>
            <a:r>
              <a:rPr lang="zh-CN" altLang="en-US"/>
              <a:t>根据前</a:t>
            </a:r>
            <a:r>
              <a:rPr lang="en-US" altLang="zh-CN"/>
              <a:t>16</a:t>
            </a:r>
            <a:r>
              <a:rPr lang="zh-CN" altLang="en-US"/>
              <a:t>位消息释放</a:t>
            </a:r>
            <a:r>
              <a:rPr lang="zh-CN" altLang="en-US"/>
              <a:t>资源</a:t>
            </a:r>
            <a:endParaRPr lang="zh-CN" altLang="en-US"/>
          </a:p>
          <a:p>
            <a:r>
              <a:rPr lang="zh-CN" altLang="en-US"/>
              <a:t>将后</a:t>
            </a:r>
            <a:r>
              <a:rPr lang="en-US" altLang="zh-CN"/>
              <a:t>16</a:t>
            </a:r>
            <a:r>
              <a:rPr lang="zh-CN" altLang="en-US"/>
              <a:t>位数据索引插入到索引</a:t>
            </a:r>
            <a:r>
              <a:rPr lang="zh-CN" altLang="en-US"/>
              <a:t>队列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server.c</a:t>
            </a:r>
            <a:r>
              <a:rPr lang="zh-CN" altLang="en-US"/>
              <a:t>流程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41975" y="365125"/>
            <a:ext cx="2329815" cy="61480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server.c</a:t>
            </a:r>
            <a:r>
              <a:rPr lang="zh-CN" altLang="en-US"/>
              <a:t>回调函数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同</a:t>
            </a:r>
            <a:r>
              <a:rPr lang="en-US" altLang="zh-CN"/>
              <a:t>app.c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数据一致性</a:t>
            </a:r>
            <a:r>
              <a:rPr lang="zh-CN" altLang="en-US"/>
              <a:t>测试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压力测试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 频繁启停与防僵尸进程测试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 冷启动预充水机制验证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数据一致性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目的</a:t>
            </a:r>
            <a:r>
              <a:rPr lang="en-US" altLang="zh-CN"/>
              <a:t>:</a:t>
            </a:r>
            <a:r>
              <a:rPr lang="zh-CN" altLang="en-US"/>
              <a:t>测试整个过程中的数据一致性</a:t>
            </a:r>
            <a:r>
              <a:rPr lang="en-US" altLang="zh-CN"/>
              <a:t>,</a:t>
            </a:r>
            <a:r>
              <a:rPr lang="zh-CN" altLang="en-US"/>
              <a:t>无数据错位以及丢失等</a:t>
            </a:r>
            <a:r>
              <a:rPr lang="zh-CN" altLang="en-US"/>
              <a:t>问题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方案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开启旁路抓包</a:t>
            </a:r>
            <a:r>
              <a:rPr lang="en-US" altLang="zh-CN"/>
              <a:t>:</a:t>
            </a:r>
            <a:r>
              <a:rPr lang="zh-CN" altLang="en-US"/>
              <a:t>抓取</a:t>
            </a:r>
            <a:r>
              <a:rPr lang="en-US" altLang="zh-CN"/>
              <a:t>ALSA</a:t>
            </a:r>
            <a:r>
              <a:rPr lang="zh-CN" altLang="en-US"/>
              <a:t>送往声卡的</a:t>
            </a:r>
            <a:r>
              <a:rPr lang="en-US" altLang="zh-CN"/>
              <a:t>.raw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zh-CN" altLang="en-US"/>
              <a:t>播放端通过</a:t>
            </a:r>
            <a:r>
              <a:rPr lang="en-US" altLang="zh-CN"/>
              <a:t>online tone generator</a:t>
            </a:r>
            <a:r>
              <a:rPr lang="zh-CN" altLang="en-US"/>
              <a:t>网站播放</a:t>
            </a:r>
            <a:r>
              <a:rPr lang="en-US" altLang="zh-CN"/>
              <a:t>1000HZ</a:t>
            </a:r>
            <a:r>
              <a:rPr lang="zh-CN" altLang="en-US"/>
              <a:t>正弦</a:t>
            </a:r>
            <a:r>
              <a:rPr lang="zh-CN" altLang="en-US"/>
              <a:t>波</a:t>
            </a:r>
            <a:endParaRPr lang="zh-CN" altLang="en-US"/>
          </a:p>
          <a:p>
            <a:r>
              <a:rPr lang="zh-CN" altLang="en-US"/>
              <a:t>运行</a:t>
            </a:r>
            <a:r>
              <a:rPr lang="en-US" altLang="zh-CN"/>
              <a:t>5</a:t>
            </a:r>
            <a:r>
              <a:rPr lang="zh-CN" altLang="en-US"/>
              <a:t>秒</a:t>
            </a:r>
            <a:r>
              <a:rPr lang="en-US" altLang="zh-CN"/>
              <a:t>,</a:t>
            </a:r>
            <a:r>
              <a:rPr lang="zh-CN" altLang="en-US"/>
              <a:t>并检测是否存在</a:t>
            </a:r>
            <a:r>
              <a:rPr lang="en-US" altLang="zh-CN"/>
              <a:t>overrun</a:t>
            </a:r>
            <a:r>
              <a:rPr lang="zh-CN" altLang="en-US"/>
              <a:t>等报错</a:t>
            </a:r>
            <a:r>
              <a:rPr lang="en-US" altLang="zh-CN"/>
              <a:t>,</a:t>
            </a:r>
            <a:r>
              <a:rPr lang="zh-CN" altLang="en-US"/>
              <a:t>以及进行返回值</a:t>
            </a:r>
            <a:r>
              <a:rPr lang="zh-CN" altLang="en-US"/>
              <a:t>检查</a:t>
            </a:r>
            <a:endParaRPr lang="zh-CN" altLang="en-US"/>
          </a:p>
          <a:p>
            <a:r>
              <a:rPr lang="zh-CN" altLang="en-US"/>
              <a:t>将生成的</a:t>
            </a:r>
            <a:r>
              <a:rPr lang="en-US" altLang="zh-CN"/>
              <a:t>.raw</a:t>
            </a:r>
            <a:r>
              <a:rPr lang="zh-CN" altLang="en-US"/>
              <a:t>文件导入到</a:t>
            </a:r>
            <a:r>
              <a:rPr lang="en-US" altLang="zh-CN"/>
              <a:t> Audacity</a:t>
            </a:r>
            <a:r>
              <a:rPr lang="zh-CN" altLang="en-US"/>
              <a:t>进行波形</a:t>
            </a:r>
            <a:r>
              <a:rPr lang="zh-CN" altLang="en-US"/>
              <a:t>解析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数据一致性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实现</a:t>
            </a:r>
            <a:r>
              <a:rPr lang="en-US" altLang="zh-CN"/>
              <a:t>:test_case1_basic.sh</a:t>
            </a:r>
            <a:endParaRPr lang="en-US" altLang="zh-CN"/>
          </a:p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7" name="图片 6" descr="cas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025" y="2353945"/>
            <a:ext cx="6630670" cy="4439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case1_data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7755" y="365125"/>
            <a:ext cx="9030335" cy="5812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压力测试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7865" y="1381125"/>
            <a:ext cx="10515600" cy="5136515"/>
          </a:xfrm>
        </p:spPr>
        <p:txBody>
          <a:bodyPr>
            <a:normAutofit/>
          </a:bodyPr>
          <a:p>
            <a:r>
              <a:rPr lang="zh-CN" altLang="en-US"/>
              <a:t>目的</a:t>
            </a:r>
            <a:r>
              <a:rPr lang="en-US" altLang="zh-CN"/>
              <a:t>:</a:t>
            </a:r>
            <a:r>
              <a:rPr lang="zh-CN" altLang="en-US"/>
              <a:t>验证代码中的 </a:t>
            </a:r>
            <a:r>
              <a:rPr lang="en-US" altLang="zh-CN"/>
              <a:t>ALSA </a:t>
            </a:r>
            <a:r>
              <a:rPr lang="zh-CN" altLang="en-US"/>
              <a:t>分段组装逻辑，确保在高压环境下依然</a:t>
            </a:r>
            <a:endParaRPr lang="zh-CN" altLang="en-US"/>
          </a:p>
          <a:p>
            <a:r>
              <a:rPr lang="zh-CN" altLang="en-US"/>
              <a:t>无数据断裂等</a:t>
            </a:r>
            <a:r>
              <a:rPr lang="zh-CN" altLang="en-US"/>
              <a:t>问题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方案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旁路</a:t>
            </a:r>
            <a:r>
              <a:rPr lang="zh-CN" altLang="en-US"/>
              <a:t>抓包</a:t>
            </a:r>
            <a:endParaRPr lang="zh-CN" altLang="en-US"/>
          </a:p>
          <a:p>
            <a:r>
              <a:rPr lang="zh-CN" altLang="en-US"/>
              <a:t>通过</a:t>
            </a:r>
            <a:r>
              <a:rPr lang="en-US" altLang="zh-CN"/>
              <a:t>while true; do :; done &amp;</a:t>
            </a:r>
            <a:endParaRPr lang="en-US" altLang="zh-CN"/>
          </a:p>
          <a:p>
            <a:r>
              <a:rPr lang="en-US" altLang="zh-CN"/>
              <a:t>LOAD_PID1=$!</a:t>
            </a:r>
            <a:r>
              <a:rPr lang="zh-CN" altLang="en-US"/>
              <a:t>命令生成两个死循环后台进程榨干</a:t>
            </a:r>
            <a:r>
              <a:rPr lang="en-US" altLang="zh-CN"/>
              <a:t>CPU</a:t>
            </a:r>
            <a:r>
              <a:rPr lang="zh-CN" altLang="en-US"/>
              <a:t>资源</a:t>
            </a:r>
            <a:endParaRPr lang="zh-CN" altLang="en-US"/>
          </a:p>
          <a:p>
            <a:r>
              <a:rPr lang="zh-CN" altLang="en-US"/>
              <a:t>运行</a:t>
            </a:r>
            <a:r>
              <a:rPr lang="en-US" altLang="zh-CN"/>
              <a:t>10</a:t>
            </a:r>
            <a:r>
              <a:rPr lang="zh-CN" altLang="en-US"/>
              <a:t>秒</a:t>
            </a:r>
            <a:r>
              <a:rPr lang="en-US" altLang="zh-CN"/>
              <a:t>,</a:t>
            </a:r>
            <a:r>
              <a:rPr lang="zh-CN" altLang="en-US"/>
              <a:t>并观察有无</a:t>
            </a:r>
            <a:r>
              <a:rPr lang="en-US" altLang="zh-CN"/>
              <a:t>overrun</a:t>
            </a:r>
            <a:r>
              <a:rPr lang="zh-CN" altLang="en-US"/>
              <a:t>报错</a:t>
            </a:r>
            <a:r>
              <a:rPr lang="en-US" altLang="zh-CN"/>
              <a:t>,</a:t>
            </a:r>
            <a:r>
              <a:rPr lang="zh-CN" altLang="en-US"/>
              <a:t>以及音频是否连续</a:t>
            </a:r>
            <a:r>
              <a:rPr lang="en-US" altLang="zh-CN"/>
              <a:t>,</a:t>
            </a:r>
            <a:r>
              <a:rPr lang="zh-CN" altLang="en-US"/>
              <a:t>以及返回值</a:t>
            </a:r>
            <a:endParaRPr lang="zh-CN" altLang="en-US"/>
          </a:p>
          <a:p>
            <a:r>
              <a:rPr lang="zh-CN" altLang="en-US"/>
              <a:t>检查</a:t>
            </a:r>
            <a:endParaRPr lang="zh-CN" altLang="en-US"/>
          </a:p>
          <a:p>
            <a:r>
              <a:rPr lang="zh-CN" altLang="en-US"/>
              <a:t>将生成的</a:t>
            </a:r>
            <a:r>
              <a:rPr lang="en-US" altLang="zh-CN"/>
              <a:t>.raw</a:t>
            </a:r>
            <a:r>
              <a:rPr lang="zh-CN" altLang="en-US"/>
              <a:t>文件导入</a:t>
            </a:r>
            <a:r>
              <a:rPr lang="en-US" altLang="zh-CN">
                <a:sym typeface="+mn-ea"/>
              </a:rPr>
              <a:t> Audacity</a:t>
            </a:r>
            <a:r>
              <a:rPr lang="zh-CN" altLang="en-US">
                <a:sym typeface="+mn-ea"/>
              </a:rPr>
              <a:t>进行波形解析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压力测试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实现</a:t>
            </a:r>
            <a:r>
              <a:rPr lang="en-US" altLang="zh-CN"/>
              <a:t>:test_case2_stress.sh</a:t>
            </a:r>
            <a:endParaRPr lang="en-US" altLang="zh-CN"/>
          </a:p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4" name="图片 3" descr="case2_str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540" y="2430780"/>
            <a:ext cx="6285230" cy="43313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ase2_stress_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" y="0"/>
            <a:ext cx="11482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频繁启停与防僵尸进程测试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5420"/>
            <a:ext cx="10515600" cy="5462270"/>
          </a:xfrm>
        </p:spPr>
        <p:txBody>
          <a:bodyPr>
            <a:normAutofit fontScale="80000"/>
          </a:bodyPr>
          <a:p>
            <a:r>
              <a:rPr lang="zh-CN" altLang="en-US"/>
              <a:t>目的</a:t>
            </a:r>
            <a:r>
              <a:rPr lang="en-US" altLang="zh-CN"/>
              <a:t>:</a:t>
            </a:r>
            <a:r>
              <a:rPr lang="zh-CN" altLang="en-US"/>
              <a:t>验证退出机制是否能够完全回收资源</a:t>
            </a:r>
            <a:r>
              <a:rPr lang="en-US" altLang="zh-CN"/>
              <a:t>,</a:t>
            </a:r>
            <a:r>
              <a:rPr lang="zh-CN" altLang="en-US"/>
              <a:t>以及是否有僵尸进程残留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方案</a:t>
            </a:r>
            <a:r>
              <a:rPr lang="en-US" altLang="zh-CN"/>
              <a:t>:</a:t>
            </a:r>
            <a:r>
              <a:rPr lang="zh-CN" altLang="en-US"/>
              <a:t>将快速连续地启动 </a:t>
            </a:r>
            <a:r>
              <a:rPr lang="en-US" altLang="zh-CN"/>
              <a:t>./run.sh ，</a:t>
            </a:r>
            <a:r>
              <a:rPr lang="zh-CN" altLang="en-US"/>
              <a:t>等待 1 秒后输入 </a:t>
            </a:r>
            <a:r>
              <a:rPr lang="en-US" altLang="zh-CN"/>
              <a:t>Enter </a:t>
            </a:r>
            <a:r>
              <a:rPr lang="zh-CN" altLang="en-US"/>
              <a:t>回车键退出。重复 10 次</a:t>
            </a:r>
            <a:r>
              <a:rPr lang="en-US" altLang="zh-CN"/>
              <a:t>,</a:t>
            </a:r>
            <a:r>
              <a:rPr lang="zh-CN" altLang="en-US"/>
              <a:t>检测</a:t>
            </a:r>
            <a:r>
              <a:rPr lang="en-US" altLang="zh-CN"/>
              <a:t>RET_VAL</a:t>
            </a:r>
            <a:r>
              <a:rPr lang="zh-CN" altLang="en-US"/>
              <a:t>返回值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验收标准：</a:t>
            </a:r>
            <a:endParaRPr lang="zh-CN" altLang="en-US"/>
          </a:p>
          <a:p>
            <a:r>
              <a:rPr lang="zh-CN" altLang="en-US"/>
              <a:t>每次都能打印出 </a:t>
            </a:r>
            <a:r>
              <a:rPr lang="en-US" altLang="zh-CN"/>
              <a:t>OK 。</a:t>
            </a:r>
            <a:endParaRPr lang="en-US" altLang="zh-CN"/>
          </a:p>
          <a:p>
            <a:r>
              <a:rPr lang="zh-CN" altLang="en-US"/>
              <a:t>每次退出后进程干净销毁，系统控制台不会卡死。</a:t>
            </a:r>
            <a:endParaRPr lang="zh-CN" altLang="en-US"/>
          </a:p>
          <a:p>
            <a:r>
              <a:rPr lang="zh-CN" altLang="en-US"/>
              <a:t>再次启动时不会报 </a:t>
            </a:r>
            <a:r>
              <a:rPr lang="en-US" altLang="zh-CN"/>
              <a:t>IPC </a:t>
            </a:r>
            <a:r>
              <a:rPr lang="zh-CN" altLang="en-US"/>
              <a:t>端口被占用或共享内存申请失败（证明 </a:t>
            </a:r>
            <a:r>
              <a:rPr lang="en-US" altLang="zh-CN"/>
              <a:t>DSP </a:t>
            </a:r>
            <a:r>
              <a:rPr lang="zh-CN" altLang="en-US"/>
              <a:t>资源也</a:t>
            </a:r>
            <a:endParaRPr lang="zh-CN" altLang="en-US"/>
          </a:p>
          <a:p>
            <a:r>
              <a:rPr lang="zh-CN" altLang="en-US"/>
              <a:t>成功回收）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实现</a:t>
            </a:r>
            <a:r>
              <a:rPr lang="en-US" altLang="zh-CN"/>
              <a:t>:test_case3_ipc_lifecycle.sh</a:t>
            </a:r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频繁启停与防僵尸进程测试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4" name="图片 3" descr="case3_q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7015" y="1911350"/>
            <a:ext cx="6854825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冷启动预充水机制验证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目的</a:t>
            </a:r>
            <a:r>
              <a:rPr lang="en-US" altLang="zh-CN"/>
              <a:t>:</a:t>
            </a:r>
            <a:r>
              <a:rPr lang="zh-CN" altLang="en-US"/>
              <a:t>验证预充水机制是否能够</a:t>
            </a:r>
            <a:r>
              <a:rPr lang="zh-CN" altLang="en-US"/>
              <a:t>有效防止启动时的</a:t>
            </a:r>
            <a:r>
              <a:rPr lang="en-US" altLang="zh-CN"/>
              <a:t>overrun</a:t>
            </a:r>
            <a:r>
              <a:rPr lang="zh-CN" altLang="en-US"/>
              <a:t>爆音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方案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观察程序运行时有无</a:t>
            </a:r>
            <a:r>
              <a:rPr lang="en-US" altLang="zh-CN"/>
              <a:t>overrun</a:t>
            </a:r>
            <a:r>
              <a:rPr lang="zh-CN" altLang="en-US"/>
              <a:t>报错以及爆音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zh-CN" altLang="en-US"/>
              <a:t>观察波形开端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验收标准</a:t>
            </a:r>
            <a:r>
              <a:rPr lang="en-US" altLang="zh-CN"/>
              <a:t>:</a:t>
            </a:r>
            <a:r>
              <a:rPr lang="zh-CN" altLang="en-US"/>
              <a:t>启动时的波形连续</a:t>
            </a:r>
            <a:r>
              <a:rPr lang="en-US" altLang="zh-CN"/>
              <a:t>,</a:t>
            </a:r>
            <a:r>
              <a:rPr lang="zh-CN" altLang="en-US"/>
              <a:t>无</a:t>
            </a:r>
            <a:r>
              <a:rPr lang="zh-CN" altLang="en-US"/>
              <a:t>突变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冷启动预充水机制验证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940" y="2624455"/>
            <a:ext cx="8896350" cy="314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2354</Words>
  <Application>WPS 演示</Application>
  <PresentationFormat>宽屏</PresentationFormat>
  <Paragraphs>258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5组综设汇报</vt:lpstr>
      <vt:lpstr>目录</vt:lpstr>
      <vt:lpstr>已完成任务展示</vt:lpstr>
      <vt:lpstr>已完成任务展示</vt:lpstr>
      <vt:lpstr>已完成任务展示</vt:lpstr>
      <vt:lpstr>已完成任务展示</vt:lpstr>
      <vt:lpstr>已完成任务展示</vt:lpstr>
      <vt:lpstr>最终代码设计</vt:lpstr>
      <vt:lpstr>原理解析:</vt:lpstr>
      <vt:lpstr>声卡参数选择</vt:lpstr>
      <vt:lpstr>架构设计</vt:lpstr>
      <vt:lpstr>架构设计</vt:lpstr>
      <vt:lpstr>缓冲区选择</vt:lpstr>
      <vt:lpstr>同步机制</vt:lpstr>
      <vt:lpstr>程序退出问题</vt:lpstr>
      <vt:lpstr>后续优化</vt:lpstr>
      <vt:lpstr>后续优化</vt:lpstr>
      <vt:lpstr>后续优化</vt:lpstr>
      <vt:lpstr>app.c流程(握手后):</vt:lpstr>
      <vt:lpstr>录音线程流程:</vt:lpstr>
      <vt:lpstr>播放线程流程</vt:lpstr>
      <vt:lpstr>app.c回调函数:</vt:lpstr>
      <vt:lpstr>server.c流程</vt:lpstr>
      <vt:lpstr>server.c回调函数:</vt:lpstr>
      <vt:lpstr>测试:</vt:lpstr>
      <vt:lpstr>数据一致性测试</vt:lpstr>
      <vt:lpstr>数据一致性测试</vt:lpstr>
      <vt:lpstr>PowerPoint 演示文稿</vt:lpstr>
      <vt:lpstr>压力测试</vt:lpstr>
      <vt:lpstr>压力测试</vt:lpstr>
      <vt:lpstr>PowerPoint 演示文稿</vt:lpstr>
      <vt:lpstr>频繁启停与防僵尸进程测试</vt:lpstr>
      <vt:lpstr>频繁启停与防僵尸进程测试</vt:lpstr>
      <vt:lpstr>冷启动预充水机制验证</vt:lpstr>
      <vt:lpstr>冷启动预充水机制验证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陈旺</dc:creator>
  <cp:lastModifiedBy>WPS_1695899523</cp:lastModifiedBy>
  <cp:revision>9</cp:revision>
  <dcterms:created xsi:type="dcterms:W3CDTF">2023-08-09T12:44:00Z</dcterms:created>
  <dcterms:modified xsi:type="dcterms:W3CDTF">2026-06-28T15:04:24Z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6159B56BAE7A486DA859746F58595447_12</vt:lpwstr>
  </property>
</Properties>
</file>